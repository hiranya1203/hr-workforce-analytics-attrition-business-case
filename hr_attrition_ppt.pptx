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DFCF6-2FA7-46B3-B5E9-29E72A5DB5C6}" v="30" dt="2026-05-02T10:47:36.278"/>
    <p1510:client id="{460C5EA4-E129-4742-A434-54B193251D7E}" v="7" dt="2026-05-02T13:27:37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78F-41FB-AEFF-BAECE1AB6C24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8F-41FB-AEFF-BAECE1AB6C24}"/>
              </c:ext>
            </c:extLst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8F-41FB-AEFF-BAECE1AB6C2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Human Resources</c:v>
                </c:pt>
                <c:pt idx="2">
                  <c:v>Research &amp; Development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</c:v>
                </c:pt>
                <c:pt idx="1">
                  <c:v>19</c:v>
                </c:pt>
                <c:pt idx="2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8F-41FB-AEFF-BAECE1AB6C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3E944-A21A-49E8-84DC-E3C46910977E}" type="datetimeFigureOut"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4758F-56EE-4731-8E53-4F55C662E8B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9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Workforce Attrition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Case for Reducing Employee Attrition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5486400" cy="36576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by: P. Hiranya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SQL  ·  Excel  ·  Tableau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217920" y="914400"/>
            <a:ext cx="2560320" cy="2560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0" y="9144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4–6%</a:t>
            </a:r>
            <a:endParaRPr lang="en-US" sz="4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industry</a:t>
            </a:r>
            <a:endParaRPr lang="en-US" sz="4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attrition rate is 16.1% — above the 10–12% industry benchmark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employees left the company last year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concentrated in Sales and Human Resources departments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employees (under 25) and those in their first 2 years are at highest risk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level of attrition is costing the business millions every year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000" dirty="0">
              <a:solidFill>
                <a:srgbClr val="7F8C8D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/>
                <a:ea typeface="Calibri"/>
                <a:cs typeface="Calibri"/>
              </a:rPr>
              <a:t>Key Findings at a Glance</a:t>
            </a:r>
            <a:endParaRPr lang="en-US" sz="30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22860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2011680" cy="2286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2011680" cy="2286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4632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1005840"/>
            <a:ext cx="2011680" cy="2286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$13.8M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13232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Attrition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859536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520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one employee costs approximately 6 months of their salary — every leaver costs the company $58,527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 Has the Highest Attrition?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86868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868680"/>
            <a:ext cx="310896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2"/>
          <p:cNvSpPr/>
          <p:nvPr/>
        </p:nvSpPr>
        <p:spPr>
          <a:xfrm>
            <a:off x="5852160" y="960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0" y="146304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is the highest risk department at 20.6% — nearly double the industry average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follows at 19.0% — also above the 16.1% company average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Development is the most stable at 13.8%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average: 10–12%  |  Company average: 16.1%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Why Are Employees Leaving?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22960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Attrition Rate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 Level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Age Group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Employees under 25 years old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39.2%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🔴 Very High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Overtime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Employees working overtime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</a:rPr>
                        <a:t>30.5%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</a:rPr>
                        <a:t>🔴 Very High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Job Satisfaction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Low satisfaction score (1 out of 4)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</a:rPr>
                        <a:t>22.8%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7E22"/>
                          </a:solidFill>
                        </a:rPr>
                        <a:t>🟠 High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Department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Sales department employees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</a:rPr>
                        <a:t>20.6%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67E22"/>
                          </a:solidFill>
                        </a:rPr>
                        <a:t>🟠 High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No Overtime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4A"/>
                          </a:solidFill>
                        </a:rPr>
                        <a:t>Employees NOT working overtime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9E75"/>
                          </a:solidFill>
                        </a:rPr>
                        <a:t>10.4%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9E75"/>
                          </a:solidFill>
                        </a:rPr>
                        <a:t>🟢 Low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Insight: Employees who work overtime are 3x more likely to leave than those who don't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Costing the Company?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1645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$58,527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27432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replace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(6 months salary)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46120" y="914400"/>
            <a:ext cx="2743200" cy="1645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46120" y="1737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last year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2743200" cy="1645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$13.8M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1737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attrition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reduce attrition?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00400"/>
          <a:ext cx="8595360" cy="15361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 Rate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Employees Saved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Money Saved per Year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4A"/>
                          </a:solidFill>
                        </a:rPr>
                        <a:t>14%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4A"/>
                          </a:solidFill>
                        </a:rPr>
                        <a:t>31 employees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9E75"/>
                          </a:solidFill>
                        </a:rPr>
                        <a:t>$1,814,337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4A"/>
                          </a:solidFill>
                        </a:rPr>
                        <a:t>13%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4A"/>
                          </a:solidFill>
                        </a:rPr>
                        <a:t>46 employees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9E75"/>
                          </a:solidFill>
                        </a:rPr>
                        <a:t>$2,692,242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4A"/>
                          </a:solidFill>
                        </a:rPr>
                        <a:t>11%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A4A"/>
                          </a:solidFill>
                        </a:rPr>
                        <a:t>75 employees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9E75"/>
                          </a:solidFill>
                        </a:rPr>
                        <a:t>$4,389,525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Most Likely to Leave?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Employee Profile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overtime regularly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low job satisfaction (score 1 or 2 out of 4)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under 25 years old (39.2% attrition)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at the company less than 2 years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Sales department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Role: Sales Representative — highest attrition at 39.8%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114800" cy="77724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058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172200" y="1005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Under 25s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4114800" cy="77724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965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72200" y="1965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Overtime workers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4114800" cy="77724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92608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2926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Sales Reps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840480"/>
            <a:ext cx="4114800" cy="777240"/>
          </a:xfrm>
          <a:prstGeom prst="rect">
            <a:avLst/>
          </a:prstGeom>
          <a:solidFill>
            <a:srgbClr val="FDEBD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8862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72200" y="38862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Low satisfaction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Recommendations to Reduce Attrition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822960"/>
            <a:ext cx="2834640" cy="4023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822960"/>
            <a:ext cx="283464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822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Overtime Policy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OT employees leave at 3x the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mandatory overtime hours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comp-off days for extra hours worked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OT monitoring by HR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Department Managers + HR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30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4434840"/>
            <a:ext cx="2834640" cy="3657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Reduce attrition by ~2%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834640" cy="4023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822960"/>
            <a:ext cx="283464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22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New Employee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30%+ leave in first 2 years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8745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buddy/mentor for 12 months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90-day onboarding plan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check-ins in Year 1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HR Learning Team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60 days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4434840"/>
            <a:ext cx="2834640" cy="3657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Reduce attrition by ~2%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822960"/>
            <a:ext cx="2834640" cy="4023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822960"/>
            <a:ext cx="2834640" cy="5029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822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Satisfaction Surveys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Low satisfaction = high attrition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18745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anonymous surveys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action plans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satisfaction score quarterly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HR Business Partners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520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45 days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434840"/>
            <a:ext cx="2834640" cy="3657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Reduce attrition by ~1%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3931920" cy="292608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Rate:  16.1%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Lost:  237/year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    $13.8M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Status: Above average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2103120"/>
            <a:ext cx="45720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931920" cy="2926080"/>
          </a:xfrm>
          <a:prstGeom prst="rect">
            <a:avLst/>
          </a:prstGeom>
          <a:solidFill>
            <a:srgbClr val="D5F5E3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5087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Rate:     11%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Lost:  162/year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    $9.5M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Saved: 75/year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Savings: $4,389,525/year  |  Cost of Recommendations: ~$500,000  |  ROI: 754%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Findings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82296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89888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16.1% attrition rate — 4–6% above the 10–12% industry average, costing $13.8M annually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4114800" cy="82296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350008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Overtime is the #1 driver — employees working OT leave at 30.5% vs only 10.4% for others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4114800" cy="82296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310128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Under-25s and first-2-year employees are the highest risk groups at 39.2% attrition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Recommendations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114800" cy="82296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89888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Overtime Policy — cap mandatory overtime, offer comp-off days → saves ~2% attrition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114800" cy="82296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350008"/>
            <a:ext cx="3931920" cy="7863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/>
                <a:ea typeface="Calibri"/>
                <a:cs typeface="Calibri"/>
              </a:rPr>
              <a:t>→  New Employee Support — 12-month mentorship programme for all new joiners → saves ~2% attrition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4114800" cy="82296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310128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Satisfaction Surveys — quarterly anonymous surveys with department action plans → saves ~1% attrition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Attrition is predictable and preventable. With 3 targeted actions, we can save $4.3M and retain 75 more employees per year.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8097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i="1" dirty="0">
              <a:solidFill>
                <a:srgbClr val="7F8C8D"/>
              </a:solidFill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114800" cy="1417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280160"/>
            <a:ext cx="4114800" cy="34747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Dataset is a Simulation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IBM HR dataset is synthetically generated for educational purposes. Real company data may show different patterns and magnitudes.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114800" cy="1417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280160"/>
            <a:ext cx="4114800" cy="34747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External Factors Not Captured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conditions, competitor salaries, and economic trends are not in the dataset but could significantly influence attrition.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417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Attrition Reasons are Inferred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84048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/>
                <a:ea typeface="Calibri"/>
                <a:cs typeface="Calibri"/>
              </a:rPr>
              <a:t>We identified correlations — not confirmed causes. Exit interviews and employee surveys would provide stronger evidence.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114800" cy="1417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926080"/>
            <a:ext cx="4114800" cy="347472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Cost Estimates are Averages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3375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6-month replacement cost is an industry standard estimate. Actual costs vary significantly by job role and seniority level.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Despite these limitations, the findings are directionally strong and supported by consistent patterns across multiple factors.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7265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1371600"/>
          </a:xfrm>
          <a:prstGeom prst="rect">
            <a:avLst/>
          </a:prstGeom>
          <a:solidFill>
            <a:srgbClr val="25355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(kaggle.com/datasets/pavansubhasht/ibm-hr-analytics-attrition-dataset)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325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records  |  35 columns  |  3 departments  |  9 job roles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2011680" cy="2331720"/>
          </a:xfrm>
          <a:prstGeom prst="rect">
            <a:avLst/>
          </a:prstGeom>
          <a:solidFill>
            <a:srgbClr val="253555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2468880"/>
            <a:ext cx="2011680" cy="41148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944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attrition rates, root cause queries, cost calculations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468880"/>
            <a:ext cx="2011680" cy="2331720"/>
          </a:xfrm>
          <a:prstGeom prst="rect">
            <a:avLst/>
          </a:prstGeom>
          <a:solidFill>
            <a:srgbClr val="253555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468880"/>
            <a:ext cx="2011680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60320" y="2944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337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model, what-if scenario calculator, department pivot 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2011680" cy="2331720"/>
          </a:xfrm>
          <a:prstGeom prst="rect">
            <a:avLst/>
          </a:prstGeom>
          <a:solidFill>
            <a:srgbClr val="253555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2468880"/>
            <a:ext cx="2011680" cy="41148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944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KPI cards, bar charts, heatmap, filters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468880"/>
            <a:ext cx="2011680" cy="2331720"/>
          </a:xfrm>
          <a:prstGeom prst="rect">
            <a:avLst/>
          </a:prstGeom>
          <a:solidFill>
            <a:srgbClr val="253555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2468880"/>
            <a:ext cx="201168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2944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PowerPoint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333756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case presentation with findings and recommendations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solidFill>
            <a:srgbClr val="253555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Replacement cost = 6 months salary  |  Productivity loss = 3 months salary  |  Industry benchmark = 10–12%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1998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Workforce Attrition Analysis</dc:title>
  <dc:subject>PptxGenJS Presentation</dc:subject>
  <dc:creator>PptxGenJS</dc:creator>
  <cp:lastModifiedBy>PptxGenJS</cp:lastModifiedBy>
  <cp:revision>21</cp:revision>
  <dcterms:created xsi:type="dcterms:W3CDTF">2026-05-02T09:28:58Z</dcterms:created>
  <dcterms:modified xsi:type="dcterms:W3CDTF">2026-05-02T13:29:40Z</dcterms:modified>
</cp:coreProperties>
</file>